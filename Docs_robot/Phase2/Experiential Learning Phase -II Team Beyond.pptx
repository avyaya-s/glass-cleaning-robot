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761150" cy="9942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QyjWeD2gJAHIVPjFOpYt4OYrm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a94f4dcdc_2_3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a94f4dcdc_2_3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6a94f4dcdc_2_3:notes"/>
          <p:cNvSpPr txBox="1"/>
          <p:nvPr>
            <p:ph idx="12" type="sldNum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78c248986_3_14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678c248986_3_14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a8d493c82_0_0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6a8d493c82_0_0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78c248986_3_24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678c248986_3_24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a94f4dcdc_2_14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6a94f4dcdc_2_14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6a94f4dcdc_2_14:notes"/>
          <p:cNvSpPr txBox="1"/>
          <p:nvPr>
            <p:ph idx="12" type="sldNum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99d127811_0_0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99d127811_0_0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699d127811_0_0:notes"/>
          <p:cNvSpPr txBox="1"/>
          <p:nvPr>
            <p:ph idx="12" type="sldNum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99d127811_0_10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99d127811_0_10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699d127811_0_10:notes"/>
          <p:cNvSpPr txBox="1"/>
          <p:nvPr>
            <p:ph idx="12" type="sldNum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99d127811_0_20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99d127811_0_20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699d127811_0_20:notes"/>
          <p:cNvSpPr txBox="1"/>
          <p:nvPr>
            <p:ph idx="12" type="sldNum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a8d493c82_0_10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6a8d493c82_0_10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a8d493c82_0_18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6a8d493c82_0_18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a8d493c82_0_26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6a8d493c82_0_26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a8d493c82_0_43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6a8d493c82_0_43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a8d493c82_0_54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6a8d493c82_0_54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a8d493c82_0_64:notes"/>
          <p:cNvSpPr txBox="1"/>
          <p:nvPr>
            <p:ph idx="1" type="body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6a8d493c82_0_64:notes"/>
          <p:cNvSpPr/>
          <p:nvPr>
            <p:ph idx="2" type="sldImg"/>
          </p:nvPr>
        </p:nvSpPr>
        <p:spPr>
          <a:xfrm>
            <a:off x="398463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5"/>
          <p:cNvSpPr txBox="1"/>
          <p:nvPr/>
        </p:nvSpPr>
        <p:spPr>
          <a:xfrm>
            <a:off x="5055596" y="6405140"/>
            <a:ext cx="2080806" cy="2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00">
            <a:spAutoFit/>
          </a:bodyPr>
          <a:lstStyle/>
          <a:p>
            <a:pPr indent="0" lvl="0" marL="7701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400" u="none" cap="none" strike="noStrik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i="0" sz="14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15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ctrTitle"/>
          </p:nvPr>
        </p:nvSpPr>
        <p:spPr>
          <a:xfrm>
            <a:off x="1524000" y="119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ookman Old Style"/>
              <a:buNone/>
              <a:defRPr sz="60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sz="24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4541263" y="6344368"/>
            <a:ext cx="3498933" cy="3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00">
            <a:spAutoFit/>
          </a:bodyPr>
          <a:lstStyle/>
          <a:p>
            <a:pPr indent="0" lvl="0" marL="7701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2400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sz="2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" name="Google Shape;27;p16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268942" y="1258282"/>
            <a:ext cx="5750859" cy="491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2" type="body"/>
          </p:nvPr>
        </p:nvSpPr>
        <p:spPr>
          <a:xfrm>
            <a:off x="6172202" y="1258280"/>
            <a:ext cx="5795682" cy="4918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26894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92246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3" name="Google Shape;33;p17"/>
          <p:cNvGrpSpPr/>
          <p:nvPr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34" name="Google Shape;34;p17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7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N" sz="14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36" name="Google Shape;36;p17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Bookman Old Style"/>
              <a:buNone/>
              <a:defRPr sz="5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18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" name="Google Shape;43;p18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44" name="Google Shape;44;p18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18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N" sz="14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19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48" name="Google Shape;48;p19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19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50" name="Google Shape;50;p19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9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" name="Google Shape;52;p19"/>
          <p:cNvSpPr txBox="1"/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9"/>
          <p:cNvSpPr txBox="1"/>
          <p:nvPr>
            <p:ph idx="2" type="body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9"/>
          <p:cNvSpPr txBox="1"/>
          <p:nvPr>
            <p:ph idx="4" type="body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0" name="Google Shape;60;p19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61" name="Google Shape;61;p19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9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N" sz="14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cap="flat" cmpd="sng" w="76200">
            <a:solidFill>
              <a:srgbClr val="0058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0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9" name="Google Shape;69;p20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70" name="Google Shape;70;p20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0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20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3" name="Google Shape;73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N" sz="14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cap="flat" cmpd="sng" w="76200">
            <a:solidFill>
              <a:srgbClr val="0058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80" name="Google Shape;80;p21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81" name="Google Shape;81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N" sz="14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83" name="Google Shape;83;p21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4" name="Google Shape;84;p21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1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2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89" name="Google Shape;89;p22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22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22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2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22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5" name="Google Shape;95;p22"/>
          <p:cNvSpPr txBox="1"/>
          <p:nvPr>
            <p:ph idx="2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6" name="Google Shape;96;p22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9" name="Google Shape;99;p22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00" name="Google Shape;100;p22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2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N" sz="14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/>
          <p:nvPr>
            <p:ph idx="2" type="pic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23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Relationship Id="rId4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rive.google.com/file/d/1mMA3aQKOmMy7ZfVjPlxYVwekC-c2c_b6/view" TargetMode="External"/><Relationship Id="rId4" Type="http://schemas.openxmlformats.org/officeDocument/2006/relationships/image" Target="../media/image12.jpg"/><Relationship Id="rId5" Type="http://schemas.openxmlformats.org/officeDocument/2006/relationships/hyperlink" Target="http://drive.google.com/file/d/1LczxFqWdnksXNFiPK7Lk5yfeqDzly3TB/view" TargetMode="External"/><Relationship Id="rId6" Type="http://schemas.openxmlformats.org/officeDocument/2006/relationships/image" Target="../media/image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A building with a roof&#10;&#10;Description automatically generated" id="127" name="Google Shape;127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1067550"/>
            <a:ext cx="11421000" cy="3893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28" name="Google Shape;128;p1"/>
          <p:cNvSpPr/>
          <p:nvPr/>
        </p:nvSpPr>
        <p:spPr>
          <a:xfrm>
            <a:off x="349046" y="4146929"/>
            <a:ext cx="11493908" cy="1004814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1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High-Rise Facade Cleaning robot using </a:t>
            </a:r>
            <a:r>
              <a:rPr b="1" lang="en-IN" sz="31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Vacuum</a:t>
            </a:r>
            <a:endParaRPr b="1" sz="3100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1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Adhesion</a:t>
            </a:r>
            <a:endParaRPr b="1" sz="3100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349045" y="5288583"/>
            <a:ext cx="11421075" cy="1004814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Manufacturing Process, 39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784103" y="23996"/>
            <a:ext cx="7168672" cy="82465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Composition of Team</a:t>
            </a:r>
            <a:endParaRPr b="1" i="0" sz="3200" u="none" cap="none" strike="noStrike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273503" y="4671067"/>
            <a:ext cx="4001246" cy="167613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Prof Manasa M</a:t>
            </a:r>
            <a:endParaRPr b="1" sz="2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Assistant Professor</a:t>
            </a:r>
            <a:endParaRPr b="1" sz="2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AIML</a:t>
            </a:r>
            <a:endParaRPr b="1" sz="2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38" name="Google Shape;13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749" y="710149"/>
            <a:ext cx="7158471" cy="570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1125" y="1489275"/>
            <a:ext cx="2245975" cy="318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145" name="Google Shape;145;p3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2339498" y="178833"/>
            <a:ext cx="8551282" cy="6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2182762" y="89747"/>
            <a:ext cx="8151863" cy="131995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/>
          </a:p>
        </p:txBody>
      </p:sp>
      <p:sp>
        <p:nvSpPr>
          <p:cNvPr id="148" name="Google Shape;148;p3"/>
          <p:cNvSpPr txBox="1"/>
          <p:nvPr>
            <p:ph idx="1" type="body"/>
          </p:nvPr>
        </p:nvSpPr>
        <p:spPr>
          <a:xfrm>
            <a:off x="355601" y="1498786"/>
            <a:ext cx="11661590" cy="518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Introduction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Project Overview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Comments during EL Phase-I and action taken.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Tools and Techniques Used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Project Progress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Analysis of Partial Results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Deliverables and Outcomes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Future work (Remaining tasks)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Conclusion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Bookman Old Style"/>
              <a:buChar char="•"/>
            </a:pPr>
            <a:r>
              <a:rPr lang="en-IN"/>
              <a:t>The project focuses on making a glass cleaning robot which uses suction mechanism for adhesion.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kman Old Style"/>
              <a:buChar char="•"/>
            </a:pPr>
            <a:r>
              <a:rPr lang="en-IN"/>
              <a:t>The  robot is designed to clean smooth vertical surfaces such as  glass etc without human intervention.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kman Old Style"/>
              <a:buChar char="•"/>
            </a:pPr>
            <a:r>
              <a:rPr lang="en-IN"/>
              <a:t>This technology addresses the challenges of cleaning in high or hard-to-reach areas, improving safety and accessibility.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By achieving a stable climb and functional cleaning mechanism, it sets the foundation for scaling up, adding autonomous navigation and preparing for real-world deployment in commercial or residential environments, </a:t>
            </a:r>
            <a:r>
              <a:rPr lang="en-IN"/>
              <a:t>in future.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155" name="Google Shape;155;p4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Manual cleaning of vertical surfaces such as glass facades, or high-rise windows is labor-intensive, time-consuming, and often unsafe. Moreover, there is a lack of compact, low-cost robotic systems capable of stable movement for cleaning purposes.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Primary objective is </a:t>
            </a:r>
            <a:r>
              <a:rPr lang="en-IN"/>
              <a:t>to design and build a cost-effective, lightweight, and portable robot that can climb glass surfaces using a suction mechanism.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Bookman Old Style"/>
              <a:buChar char="•"/>
            </a:pPr>
            <a:r>
              <a:rPr lang="en-IN"/>
              <a:t>To design and build a cost-effective, lightweight, and portable robot that can climb surfaces using a suction mechanism.</a:t>
            </a:r>
            <a:endParaRPr/>
          </a:p>
        </p:txBody>
      </p:sp>
      <p:sp>
        <p:nvSpPr>
          <p:cNvPr id="162" name="Google Shape;162;p5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Project 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950"/>
              <a:t>.</a:t>
            </a:r>
            <a:r>
              <a:rPr b="1" lang="en-IN" sz="2250"/>
              <a:t>Feedback Received (Phase-I):</a:t>
            </a:r>
            <a:endParaRPr b="1" sz="2250"/>
          </a:p>
          <a:p>
            <a:pPr indent="-3714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250"/>
              <a:buChar char="●"/>
            </a:pPr>
            <a:r>
              <a:rPr lang="en-IN" sz="2250"/>
              <a:t>Change project topic to </a:t>
            </a:r>
            <a:r>
              <a:rPr b="1" lang="en-IN" sz="2250"/>
              <a:t>glass cleaning robot</a:t>
            </a:r>
            <a:r>
              <a:rPr lang="en-IN" sz="2250"/>
              <a:t> for high-rise buildings.</a:t>
            </a:r>
            <a:br>
              <a:rPr lang="en-IN" sz="2250"/>
            </a:br>
            <a:endParaRPr sz="2250"/>
          </a:p>
          <a:p>
            <a:pPr indent="-3714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50"/>
              <a:buChar char="●"/>
            </a:pPr>
            <a:r>
              <a:rPr lang="en-IN" sz="2250"/>
              <a:t>Use </a:t>
            </a:r>
            <a:r>
              <a:rPr b="1" lang="en-IN" sz="2250"/>
              <a:t>microfiber cloth</a:t>
            </a:r>
            <a:r>
              <a:rPr lang="en-IN" sz="2250"/>
              <a:t> for better cleaning.</a:t>
            </a:r>
            <a:br>
              <a:rPr lang="en-IN" sz="2250"/>
            </a:br>
            <a:endParaRPr sz="2250"/>
          </a:p>
          <a:p>
            <a:pPr indent="-3714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50"/>
              <a:buChar char="●"/>
            </a:pPr>
            <a:r>
              <a:rPr lang="en-IN" sz="2250"/>
              <a:t>Implement </a:t>
            </a:r>
            <a:r>
              <a:rPr b="1" lang="en-IN" sz="2250"/>
              <a:t>vacuum suction</a:t>
            </a:r>
            <a:r>
              <a:rPr lang="en-IN" sz="2250"/>
              <a:t> for wall adhesion.</a:t>
            </a:r>
            <a:br>
              <a:rPr lang="en-IN" sz="2250"/>
            </a:br>
            <a:endParaRPr sz="2250"/>
          </a:p>
          <a:p>
            <a:pPr indent="-3714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50"/>
              <a:buChar char="●"/>
            </a:pPr>
            <a:r>
              <a:rPr lang="en-IN" sz="2250"/>
              <a:t>Redesign robot from </a:t>
            </a:r>
            <a:r>
              <a:rPr b="1" lang="en-IN" sz="2250"/>
              <a:t>circular to rectangular</a:t>
            </a:r>
            <a:r>
              <a:rPr lang="en-IN" sz="2250"/>
              <a:t> shape.</a:t>
            </a:r>
            <a:br>
              <a:rPr lang="en-IN" sz="2250"/>
            </a:br>
            <a:endParaRPr sz="2250"/>
          </a:p>
          <a:p>
            <a:pPr indent="-3714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50"/>
              <a:buChar char="●"/>
            </a:pPr>
            <a:r>
              <a:rPr lang="en-IN" sz="2250"/>
              <a:t>Make the robot </a:t>
            </a:r>
            <a:r>
              <a:rPr b="1" lang="en-IN" sz="2250"/>
              <a:t>wireless</a:t>
            </a:r>
            <a:r>
              <a:rPr lang="en-IN" sz="2250"/>
              <a:t>.</a:t>
            </a:r>
            <a:endParaRPr sz="2250"/>
          </a:p>
          <a:p>
            <a:pPr indent="-3714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●"/>
            </a:pPr>
            <a:r>
              <a:rPr lang="en-IN" sz="2250"/>
              <a:t>Renaming the title of the project with technical terms</a:t>
            </a:r>
            <a:endParaRPr sz="2250"/>
          </a:p>
        </p:txBody>
      </p:sp>
      <p:sp>
        <p:nvSpPr>
          <p:cNvPr id="170" name="Google Shape;170;p6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1725561" y="145670"/>
            <a:ext cx="9834426" cy="1242863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Comments during EL Phase-</a:t>
            </a: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II</a:t>
            </a: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and action taken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a94f4dcdc_2_3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415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The project was redefined to focus on a </a:t>
            </a:r>
            <a:r>
              <a:rPr b="1" lang="en-IN" sz="2100"/>
              <a:t>glass cleaning robot for high-rise buildings</a:t>
            </a:r>
            <a:r>
              <a:rPr lang="en-IN" sz="2100"/>
              <a:t>, employing a </a:t>
            </a:r>
            <a:r>
              <a:rPr b="1" lang="en-IN" sz="2100"/>
              <a:t>vacuum adhesion mechanism</a:t>
            </a:r>
            <a:r>
              <a:rPr lang="en-IN" sz="2100"/>
              <a:t> for vertical mobility.</a:t>
            </a:r>
            <a:br>
              <a:rPr lang="en-IN" sz="2100"/>
            </a:br>
            <a:endParaRPr sz="2100"/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A </a:t>
            </a:r>
            <a:r>
              <a:rPr b="1" lang="en-IN" sz="2100"/>
              <a:t>microfibre cleaning pad</a:t>
            </a:r>
            <a:r>
              <a:rPr lang="en-IN" sz="2100"/>
              <a:t> is </a:t>
            </a:r>
            <a:r>
              <a:rPr lang="en-IN" sz="2100"/>
              <a:t>going</a:t>
            </a:r>
            <a:r>
              <a:rPr lang="en-IN" sz="2100"/>
              <a:t> to be integrated to ensure gentle yet effective removal of dust and stains.</a:t>
            </a:r>
            <a:br>
              <a:rPr lang="en-IN" sz="2100"/>
            </a:br>
            <a:endParaRPr sz="2100"/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IN" sz="2100"/>
              <a:t>BLDC and </a:t>
            </a:r>
            <a:r>
              <a:rPr b="1" lang="en-IN" sz="2100"/>
              <a:t>Propeller</a:t>
            </a:r>
            <a:r>
              <a:rPr b="1" lang="en-IN" sz="2100"/>
              <a:t> </a:t>
            </a:r>
            <a:r>
              <a:rPr lang="en-IN" sz="2100"/>
              <a:t>were added to provide stable adhesion on vertical glass surfaces.</a:t>
            </a:r>
            <a:br>
              <a:rPr lang="en-IN" sz="2100"/>
            </a:br>
            <a:endParaRPr sz="2100"/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The robot’s structure was redesigned with a </a:t>
            </a:r>
            <a:r>
              <a:rPr b="1" lang="en-IN" sz="2100"/>
              <a:t>rectangular chassis</a:t>
            </a:r>
            <a:r>
              <a:rPr lang="en-IN" sz="2100"/>
              <a:t> to enhance surface coverage and directional control.</a:t>
            </a:r>
            <a:br>
              <a:rPr lang="en-IN" sz="2100"/>
            </a:br>
            <a:endParaRPr sz="2100"/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sz="2100"/>
              <a:t>The system will be upgraded to </a:t>
            </a:r>
            <a:r>
              <a:rPr b="1" lang="en-IN" sz="2100"/>
              <a:t>wireless operation</a:t>
            </a:r>
            <a:r>
              <a:rPr lang="en-IN" sz="2100"/>
              <a:t> using an </a:t>
            </a:r>
            <a:r>
              <a:rPr b="1" lang="en-IN" sz="2100"/>
              <a:t>ESP32 microcontroller</a:t>
            </a:r>
            <a:r>
              <a:rPr lang="en-IN" sz="2100"/>
              <a:t>, enabling remote functionality and improved safety.</a:t>
            </a:r>
            <a:b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a94f4dcdc_2_3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3000"/>
              <a:t>Hardware Components Used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3000"/>
              <a:t>ESP32 Wroom-32 model</a:t>
            </a:r>
            <a:r>
              <a:rPr lang="en-IN" sz="3000"/>
              <a:t> 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lang="en-IN" sz="3000"/>
              <a:t>N20 DC Motors (6V, 100 RPM)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3000"/>
              <a:t>L298N Motor Drivers (x2) 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3000"/>
              <a:t>BLDC Motor (2300 KVA) with 30A ESC 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3000"/>
              <a:t>5152 Tri-propeller 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3000"/>
              <a:t>SMPS (20A, 12V) 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3000"/>
              <a:t>Rubber-Padded Wheels 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3000"/>
              <a:t>L2596 Buck Converter 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3000"/>
              <a:t>PLA 3D Printed Chassi</a:t>
            </a:r>
            <a:r>
              <a:rPr lang="en-IN" sz="3000"/>
              <a:t>s </a:t>
            </a:r>
            <a:endParaRPr sz="3000"/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lang="en-IN" sz="3000"/>
              <a:t>Wires, Jumper Cables, Multimeter</a:t>
            </a:r>
            <a:endParaRPr sz="3000"/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186" name="Google Shape;186;p7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Tools and Techniques Used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78c248986_3_14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7000"/>
              <a:t>Software/Techniques Used</a:t>
            </a:r>
            <a:endParaRPr b="1" sz="7000"/>
          </a:p>
          <a:p>
            <a:pPr indent="-37306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7000"/>
              <a:t>Arduino IDE </a:t>
            </a:r>
            <a:endParaRPr sz="7000"/>
          </a:p>
          <a:p>
            <a:pPr indent="-3730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-IN" sz="7000"/>
              <a:t>Serial Monitor </a:t>
            </a:r>
            <a:endParaRPr sz="7000"/>
          </a:p>
          <a:p>
            <a:pPr indent="-3730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lang="en-IN" sz="7000"/>
              <a:t>3D CAD Software (SolidWorks)</a:t>
            </a:r>
            <a:endParaRPr sz="7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7000"/>
              <a:t>Rationale for Tool Selection</a:t>
            </a:r>
            <a:endParaRPr b="1" sz="7000"/>
          </a:p>
          <a:p>
            <a:pPr indent="-37306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b="1" lang="en-IN" sz="7000"/>
              <a:t>ESP32</a:t>
            </a:r>
            <a:r>
              <a:rPr lang="en-IN" sz="7000"/>
              <a:t>: Chosen for its dual-core processing and built-in Wi-Fi/Bluetooth</a:t>
            </a:r>
            <a:endParaRPr sz="7000"/>
          </a:p>
          <a:p>
            <a:pPr indent="-3730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b="1" lang="en-IN" sz="7000"/>
              <a:t>PLA Material:</a:t>
            </a:r>
            <a:r>
              <a:rPr lang="en-IN" sz="7000"/>
              <a:t> Lightweight, low-cost, easy to 3D print</a:t>
            </a:r>
            <a:endParaRPr sz="7000"/>
          </a:p>
          <a:p>
            <a:pPr indent="-3730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b="1" lang="en-IN" sz="7000"/>
              <a:t>BLDC with Propeller:</a:t>
            </a:r>
            <a:r>
              <a:rPr lang="en-IN" sz="7000"/>
              <a:t> Inspired by drone tech to assist vertical adhesion</a:t>
            </a:r>
            <a:endParaRPr sz="7000"/>
          </a:p>
          <a:p>
            <a:pPr indent="-3730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b="1" lang="en-IN" sz="7000"/>
              <a:t>L2596:</a:t>
            </a:r>
            <a:r>
              <a:rPr lang="en-IN" sz="7000"/>
              <a:t> Industry-standard buck converter, efficient for voltage regulation</a:t>
            </a:r>
            <a:endParaRPr sz="7000"/>
          </a:p>
          <a:p>
            <a:pPr indent="-3730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b="1" lang="en-IN" sz="7000"/>
              <a:t>Rubber wheels</a:t>
            </a:r>
            <a:r>
              <a:rPr lang="en-IN" sz="7000"/>
              <a:t>: Improve wall traction, minimize slipping</a:t>
            </a:r>
            <a:endParaRPr sz="7000"/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678c248986_3_14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194" name="Google Shape;194;g3678c248986_3_14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5" name="Google Shape;195;g3678c248986_3_14"/>
          <p:cNvSpPr txBox="1"/>
          <p:nvPr/>
        </p:nvSpPr>
        <p:spPr>
          <a:xfrm>
            <a:off x="1386895" y="145670"/>
            <a:ext cx="9834300" cy="83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Tools and Techniques Used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a8d493c82_0_0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</a:pPr>
            <a:r>
              <a:rPr b="1" lang="en-IN"/>
              <a:t>Current Status of the Project:</a:t>
            </a:r>
            <a:endParaRPr b="1"/>
          </a:p>
          <a:p>
            <a:pPr indent="-2540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800">
                <a:solidFill>
                  <a:srgbClr val="002060"/>
                </a:solidFill>
              </a:rPr>
              <a:t>The project is currently in the </a:t>
            </a:r>
            <a:r>
              <a:rPr b="1" lang="en-IN" sz="2800">
                <a:solidFill>
                  <a:srgbClr val="002060"/>
                </a:solidFill>
              </a:rPr>
              <a:t>prototype testing phase</a:t>
            </a:r>
            <a:r>
              <a:rPr lang="en-IN" sz="2800">
                <a:solidFill>
                  <a:srgbClr val="002060"/>
                </a:solidFill>
              </a:rPr>
              <a:t>. We have successfully completed the finalisation of model, procured components  and 3D printing of the chassis. </a:t>
            </a:r>
            <a:endParaRPr sz="2800">
              <a:solidFill>
                <a:srgbClr val="002060"/>
              </a:solidFill>
            </a:endParaRPr>
          </a:p>
          <a:p>
            <a:pPr indent="-2540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800">
                <a:solidFill>
                  <a:srgbClr val="002060"/>
                </a:solidFill>
              </a:rPr>
              <a:t>All core hardware components such as t</a:t>
            </a:r>
            <a:r>
              <a:rPr lang="en-IN" sz="2800">
                <a:solidFill>
                  <a:srgbClr val="002060"/>
                </a:solidFill>
              </a:rPr>
              <a:t>h</a:t>
            </a:r>
            <a:r>
              <a:rPr lang="en-IN" sz="2800">
                <a:solidFill>
                  <a:srgbClr val="002060"/>
                </a:solidFill>
              </a:rPr>
              <a:t>e motors, driver modules, and power supply have been mounted and electrically tested. </a:t>
            </a:r>
            <a:endParaRPr sz="2800">
              <a:solidFill>
                <a:srgbClr val="002060"/>
              </a:solidFill>
            </a:endParaRPr>
          </a:p>
          <a:p>
            <a:pPr indent="-2540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800">
                <a:solidFill>
                  <a:srgbClr val="002060"/>
                </a:solidFill>
              </a:rPr>
              <a:t>Preliminary functionality tests, including motor operation of wheels and propeller ,have also been conducted.</a:t>
            </a:r>
            <a:endParaRPr/>
          </a:p>
        </p:txBody>
      </p:sp>
      <p:sp>
        <p:nvSpPr>
          <p:cNvPr id="201" name="Google Shape;201;g36a8d493c82_0_0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02" name="Google Shape;202;g36a8d493c82_0_0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3" name="Google Shape;203;g36a8d493c82_0_0"/>
          <p:cNvSpPr txBox="1"/>
          <p:nvPr/>
        </p:nvSpPr>
        <p:spPr>
          <a:xfrm>
            <a:off x="1386895" y="145670"/>
            <a:ext cx="9834300" cy="83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Project Progress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78c248986_3_24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/>
              <a:t>Milestones achieved thus far and their significance.</a:t>
            </a:r>
            <a:endParaRPr b="1"/>
          </a:p>
          <a:p>
            <a:pPr indent="-228600" lvl="0" marL="685800" rtl="0" algn="l">
              <a:spcBef>
                <a:spcPts val="1200"/>
              </a:spcBef>
              <a:spcAft>
                <a:spcPts val="0"/>
              </a:spcAft>
              <a:buSzPts val="2800"/>
              <a:buFont typeface="Bookman Old Style"/>
              <a:buChar char="•"/>
            </a:pPr>
            <a:r>
              <a:rPr lang="en-IN"/>
              <a:t>Finalised design and successfully 3D printed a lightweight PLA chassis suitable for climbing configurations. </a:t>
            </a:r>
            <a:endParaRPr/>
          </a:p>
          <a:p>
            <a:pPr indent="-228600" lvl="0" marL="6858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Powered all motors(BLDC and all N20 motor)  with appropriate drivers.</a:t>
            </a:r>
            <a:endParaRPr/>
          </a:p>
          <a:p>
            <a:pPr indent="-228600" lvl="0" marL="6858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Achieved smooth motor control using code and verified BLDC response.</a:t>
            </a:r>
            <a:endParaRPr/>
          </a:p>
          <a:p>
            <a:pPr indent="-228600" lvl="0" marL="6858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Demonstrated partial adhesion to inclined surfaces, where the robot can remain stationary on inclined walls up to a critical angle using the BLDC-propeller-based suction mechanism.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678c248986_3_24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10" name="Google Shape;210;g3678c248986_3_24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1" name="Google Shape;211;g3678c248986_3_24"/>
          <p:cNvSpPr txBox="1"/>
          <p:nvPr/>
        </p:nvSpPr>
        <p:spPr>
          <a:xfrm>
            <a:off x="1424495" y="133145"/>
            <a:ext cx="9834300" cy="83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Project Progress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a94f4dcdc_2_14"/>
          <p:cNvSpPr txBox="1"/>
          <p:nvPr>
            <p:ph idx="1" type="body"/>
          </p:nvPr>
        </p:nvSpPr>
        <p:spPr>
          <a:xfrm>
            <a:off x="174825" y="3238503"/>
            <a:ext cx="11842500" cy="293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D</a:t>
            </a:r>
            <a:r>
              <a:rPr lang="en-IN"/>
              <a:t>iameter of suction = 167.687mm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bldc base=27.912mm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bldc base support =64.1mm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bldc base hole =6mm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height of suction hole =31.99mm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width of robot =56.102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distance between robot and suction hole =6.85mm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length of the robot=180mm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thickness of hole= 1.32mm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cleaning area =12008.59 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IN"/>
              <a:t>thickness =5.5mm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6a94f4dcdc_2_14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9" name="Google Shape;219;g36a94f4dcdc_2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50" y="1258275"/>
            <a:ext cx="3911850" cy="22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6a94f4dcdc_2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4700" y="1258275"/>
            <a:ext cx="3673950" cy="22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6a94f4dcdc_2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8650" y="1258275"/>
            <a:ext cx="4044300" cy="228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99d127811_0_0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C00000"/>
                </a:solidFill>
              </a:rPr>
              <a:t>Calculations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4 × N20 (100 RPM, 0.0686 Nm rated torque) motors are used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Char char="●"/>
            </a:pPr>
            <a:r>
              <a:rPr lang="en-IN" sz="1800">
                <a:solidFill>
                  <a:schemeClr val="dk1"/>
                </a:solidFill>
              </a:rPr>
              <a:t>1 RS2205 2300KV BLDC + 5152 propeller</a:t>
            </a:r>
            <a:br>
              <a:rPr lang="en-I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Char char="●"/>
            </a:pPr>
            <a:r>
              <a:rPr lang="en-IN" sz="1800">
                <a:solidFill>
                  <a:schemeClr val="dk1"/>
                </a:solidFill>
              </a:rPr>
              <a:t>12V 20A SMPS power supply</a:t>
            </a:r>
            <a:br>
              <a:rPr lang="en-I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Char char="●"/>
            </a:pPr>
            <a:r>
              <a:rPr lang="en-IN" sz="1800">
                <a:solidFill>
                  <a:schemeClr val="dk1"/>
                </a:solidFill>
              </a:rPr>
              <a:t>Wheel diameter = 44 mm</a:t>
            </a:r>
            <a:br>
              <a:rPr lang="en-I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Char char="●"/>
            </a:pPr>
            <a:r>
              <a:rPr lang="en-IN" sz="1800">
                <a:solidFill>
                  <a:schemeClr val="dk1"/>
                </a:solidFill>
              </a:rPr>
              <a:t>Approx max Robot total weight= 700g = 0.7 kg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Reference Paper:  https://www.jetir.org/papers/JETIR2304892.pdf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8" name="Google Shape;228;g3699d127811_0_0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99d127811_0_10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C00000"/>
                </a:solidFill>
              </a:rPr>
              <a:t>Calculations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Forces Acting on the Robot</a:t>
            </a:r>
            <a:endParaRPr sz="2400">
              <a:solidFill>
                <a:schemeClr val="dk1"/>
              </a:solidFill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900">
                <a:solidFill>
                  <a:schemeClr val="dk1"/>
                </a:solidFill>
              </a:rPr>
              <a:t>1.</a:t>
            </a:r>
            <a:r>
              <a:rPr b="1" lang="en-IN" sz="1900">
                <a:solidFill>
                  <a:schemeClr val="dk1"/>
                </a:solidFill>
              </a:rPr>
              <a:t>Weight of Robot</a:t>
            </a:r>
            <a:endParaRPr b="1" sz="1900">
              <a:solidFill>
                <a:schemeClr val="dk1"/>
              </a:solidFill>
            </a:endParaRPr>
          </a:p>
          <a:p>
            <a:pPr indent="0" lvl="0" marL="2743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Fgravity=m⋅g=0.7</a:t>
            </a:r>
            <a:r>
              <a:rPr lang="en-IN" sz="1700">
                <a:solidFill>
                  <a:schemeClr val="dk1"/>
                </a:solidFill>
              </a:rPr>
              <a:t>⋅</a:t>
            </a:r>
            <a:r>
              <a:rPr lang="en-IN" sz="1700">
                <a:solidFill>
                  <a:schemeClr val="dk1"/>
                </a:solidFill>
              </a:rPr>
              <a:t>9.81=6.867 N</a:t>
            </a:r>
            <a:endParaRPr sz="1700">
              <a:solidFill>
                <a:schemeClr val="dk1"/>
              </a:solidFill>
            </a:endParaRPr>
          </a:p>
          <a:p>
            <a:pPr indent="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solidFill>
                  <a:schemeClr val="dk1"/>
                </a:solidFill>
              </a:rPr>
              <a:t>2.  Normal Force (Suction force from BLDC)</a:t>
            </a:r>
            <a:endParaRPr b="1" sz="1900">
              <a:solidFill>
                <a:schemeClr val="dk1"/>
              </a:solidFill>
            </a:endParaRPr>
          </a:p>
          <a:p>
            <a:pPr indent="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dk1"/>
                </a:solidFill>
              </a:rPr>
              <a:t>To hold robot against vertical wall, the BLDC thrust must match the weight:</a:t>
            </a:r>
            <a:endParaRPr sz="1700">
              <a:solidFill>
                <a:schemeClr val="dk1"/>
              </a:solidFill>
            </a:endParaRPr>
          </a:p>
          <a:p>
            <a:pPr indent="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dk1"/>
                </a:solidFill>
              </a:rPr>
              <a:t>Fnormal=6.867 N</a:t>
            </a:r>
            <a:endParaRPr sz="1700">
              <a:solidFill>
                <a:schemeClr val="dk1"/>
              </a:solidFill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solidFill>
                  <a:schemeClr val="dk1"/>
                </a:solidFill>
              </a:rPr>
              <a:t>3. Friction Force (due to suction)</a:t>
            </a:r>
            <a:endParaRPr b="1" sz="1900">
              <a:solidFill>
                <a:schemeClr val="dk1"/>
              </a:solidFill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Assumption: Coefficient of friction between wheels and glass: </a:t>
            </a:r>
            <a:r>
              <a:rPr b="1" lang="en-IN" sz="1700">
                <a:solidFill>
                  <a:schemeClr val="dk1"/>
                </a:solidFill>
              </a:rPr>
              <a:t>μ = 0.4</a:t>
            </a:r>
            <a:br>
              <a:rPr b="1" lang="en-IN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</a:rPr>
              <a:t>Ffriction=μ x Fnormal=0.4 x 6.867= 2.748N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35" name="Google Shape;235;g3699d127811_0_10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99d127811_0_20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C00000"/>
                </a:solidFill>
              </a:rPr>
              <a:t>Calculations 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</a:rPr>
              <a:t>Total Force the Wheels Must Overcome:</a:t>
            </a:r>
            <a:endParaRPr sz="2200">
              <a:solidFill>
                <a:schemeClr val="dk1"/>
              </a:solidFill>
            </a:endParaRPr>
          </a:p>
          <a:p>
            <a:pPr indent="-368300" lvl="0" marL="22860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>
                <a:solidFill>
                  <a:schemeClr val="dk1"/>
                </a:solidFill>
              </a:rPr>
              <a:t>Ftotal​ = Fgravity ​+ Ffriction ​= 6.867+2.748 = 9.615N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</a:rPr>
              <a:t>Torque Required per Wheel:</a:t>
            </a:r>
            <a:endParaRPr sz="2200">
              <a:solidFill>
                <a:schemeClr val="dk1"/>
              </a:solidFill>
            </a:endParaRPr>
          </a:p>
          <a:p>
            <a:pPr indent="-368300" lvl="0" marL="22860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>
                <a:solidFill>
                  <a:schemeClr val="dk1"/>
                </a:solidFill>
              </a:rPr>
              <a:t>Fwheel​=Ftotal/4​​=9.615/4​=2.403N​</a:t>
            </a:r>
            <a:endParaRPr sz="2200">
              <a:solidFill>
                <a:schemeClr val="dk1"/>
              </a:solidFill>
            </a:endParaRPr>
          </a:p>
          <a:p>
            <a:pPr indent="-3683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>
                <a:solidFill>
                  <a:schemeClr val="dk1"/>
                </a:solidFill>
              </a:rPr>
              <a:t>Trequired per wheel ​= Fwheel​⋅r = 2.403* 0.022=0.0528Nm	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IN" sz="2200">
                <a:solidFill>
                  <a:schemeClr val="dk1"/>
                </a:solidFill>
              </a:rPr>
              <a:t>N20 Motor Torque Rating: 0.0686Nm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42" name="Google Shape;242;g3699d127811_0_20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a8d493c82_0_10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685800" rtl="0" algn="l">
              <a:spcBef>
                <a:spcPts val="1200"/>
              </a:spcBef>
              <a:spcAft>
                <a:spcPts val="0"/>
              </a:spcAft>
              <a:buSzPts val="2800"/>
              <a:buFont typeface="Bookman Old Style"/>
              <a:buChar char="•"/>
            </a:pPr>
            <a:r>
              <a:rPr b="1" lang="en-IN"/>
              <a:t>N20 Motors(6V) </a:t>
            </a:r>
            <a:r>
              <a:rPr b="1" lang="en-IN"/>
              <a:t>compatibility</a:t>
            </a:r>
            <a:r>
              <a:rPr b="1" lang="en-IN"/>
              <a:t> with SMPS(12V)</a:t>
            </a:r>
            <a:r>
              <a:rPr lang="en-IN"/>
              <a:t>: </a:t>
            </a:r>
            <a:r>
              <a:rPr lang="en-IN"/>
              <a:t>Used</a:t>
            </a:r>
            <a:r>
              <a:rPr lang="en-IN"/>
              <a:t> Buck Converter to step down 12V to 6V.</a:t>
            </a:r>
            <a:endParaRPr/>
          </a:p>
          <a:p>
            <a:pPr indent="-228600" lvl="0" marL="6858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BLDC </a:t>
            </a:r>
            <a:r>
              <a:rPr lang="en-IN"/>
              <a:t>compatibility</a:t>
            </a:r>
            <a:r>
              <a:rPr lang="en-IN"/>
              <a:t> with esp-32 and Arduino.</a:t>
            </a:r>
            <a:endParaRPr/>
          </a:p>
          <a:p>
            <a:pPr indent="-228600" lvl="0" marL="6858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1" lang="en-IN"/>
              <a:t>COM5 error:</a:t>
            </a:r>
            <a:r>
              <a:rPr lang="en-IN"/>
              <a:t> Technical  issue in the Arduino IDE.</a:t>
            </a:r>
            <a:endParaRPr/>
          </a:p>
          <a:p>
            <a:pPr indent="-228600" lvl="0" marL="6858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The motor didn’t fit properly due to dimensional mismatch and misalignment</a:t>
            </a:r>
            <a:endParaRPr/>
          </a:p>
          <a:p>
            <a:pPr indent="-228600" lvl="0" marL="6858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L298N burning due to overvoltage during testing. </a:t>
            </a:r>
            <a:endParaRPr/>
          </a:p>
          <a:p>
            <a:pPr indent="-228600" lvl="0" marL="6858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Asyncronization of wheels </a:t>
            </a:r>
            <a:endParaRPr/>
          </a:p>
        </p:txBody>
      </p:sp>
      <p:sp>
        <p:nvSpPr>
          <p:cNvPr id="248" name="Google Shape;248;g36a8d493c82_0_10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49" name="Google Shape;249;g36a8d493c82_0_10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0" name="Google Shape;250;g36a8d493c82_0_10"/>
          <p:cNvSpPr txBox="1"/>
          <p:nvPr/>
        </p:nvSpPr>
        <p:spPr>
          <a:xfrm>
            <a:off x="2188700" y="477299"/>
            <a:ext cx="8913000" cy="71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Challenges Faced and Solutions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/>
              <a:t>Prototype Assembly and Testing</a:t>
            </a:r>
            <a:endParaRPr b="1"/>
          </a:p>
          <a:p>
            <a:pPr indent="-3937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600"/>
              <a:buChar char="●"/>
            </a:pPr>
            <a:r>
              <a:rPr lang="en-IN" sz="2600"/>
              <a:t>The prototype was physically assembled using a </a:t>
            </a:r>
            <a:r>
              <a:rPr b="1" lang="en-IN" sz="2600"/>
              <a:t>3D-printed chassis</a:t>
            </a:r>
            <a:r>
              <a:rPr lang="en-IN" sz="2600"/>
              <a:t>.</a:t>
            </a:r>
            <a:endParaRPr sz="2600"/>
          </a:p>
          <a:p>
            <a:pPr indent="-393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00"/>
              <a:buChar char="●"/>
            </a:pPr>
            <a:r>
              <a:rPr lang="en-IN" sz="2600"/>
              <a:t>Core components — </a:t>
            </a:r>
            <a:r>
              <a:rPr b="1" lang="en-IN" sz="2600"/>
              <a:t>4 × N20 6V 60RPM motors</a:t>
            </a:r>
            <a:r>
              <a:rPr lang="en-IN" sz="2600"/>
              <a:t>, </a:t>
            </a:r>
            <a:r>
              <a:rPr b="1" lang="en-IN" sz="2600"/>
              <a:t>dual L298N motor drivers</a:t>
            </a:r>
            <a:r>
              <a:rPr lang="en-IN" sz="2600"/>
              <a:t>, </a:t>
            </a:r>
            <a:r>
              <a:rPr b="1" lang="en-IN" sz="2600"/>
              <a:t>RS2205 2300KV BLDC motor</a:t>
            </a:r>
            <a:r>
              <a:rPr lang="en-IN" sz="2600"/>
              <a:t>, and a </a:t>
            </a:r>
            <a:r>
              <a:rPr b="1" lang="en-IN" sz="2600"/>
              <a:t>30A ESC</a:t>
            </a:r>
            <a:r>
              <a:rPr lang="en-IN" sz="2600"/>
              <a:t> — were installed and wired.</a:t>
            </a:r>
            <a:endParaRPr sz="2600"/>
          </a:p>
          <a:p>
            <a:pPr indent="-393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00"/>
              <a:buChar char="●"/>
            </a:pPr>
            <a:r>
              <a:rPr b="1" lang="en-IN" sz="2600"/>
              <a:t>Power delivery</a:t>
            </a:r>
            <a:r>
              <a:rPr lang="en-IN" sz="2600"/>
              <a:t> was handled using a </a:t>
            </a:r>
            <a:r>
              <a:rPr b="1" lang="en-IN" sz="2600"/>
              <a:t>12V 20A SMPS</a:t>
            </a:r>
            <a:r>
              <a:rPr lang="en-IN" sz="2600"/>
              <a:t> connected to </a:t>
            </a:r>
            <a:r>
              <a:rPr b="1" lang="en-IN" sz="2600"/>
              <a:t>2 LM2596 buck converters</a:t>
            </a:r>
            <a:r>
              <a:rPr lang="en-IN" sz="2600"/>
              <a:t> (set to 6V for N20 motors and 5V for ESP32 control).</a:t>
            </a:r>
            <a:endParaRPr/>
          </a:p>
        </p:txBody>
      </p:sp>
      <p:sp>
        <p:nvSpPr>
          <p:cNvPr id="256" name="Google Shape;256;p9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57" name="Google Shape;257;p9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Analysis of Partial Results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a8d493c82_0_18"/>
          <p:cNvSpPr txBox="1"/>
          <p:nvPr>
            <p:ph idx="1" type="body"/>
          </p:nvPr>
        </p:nvSpPr>
        <p:spPr>
          <a:xfrm>
            <a:off x="174738" y="1082782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600"/>
              <a:t>Experimental Outcomes</a:t>
            </a:r>
            <a:endParaRPr b="1" sz="2600"/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600"/>
              <a:buChar char="●"/>
            </a:pPr>
            <a:r>
              <a:rPr b="1" lang="en-IN" sz="2600"/>
              <a:t>Motor tests (no wheels):</a:t>
            </a:r>
            <a:r>
              <a:rPr lang="en-IN" sz="2600"/>
              <a:t> All N20 motors spun consistently in forward and reverse when powered and controlled via L298N drivers.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00"/>
              <a:buChar char="●"/>
            </a:pPr>
            <a:r>
              <a:rPr b="1" lang="en-IN" sz="2600"/>
              <a:t>BLDC + ESC tests:</a:t>
            </a:r>
            <a:r>
              <a:rPr lang="en-IN" sz="2600"/>
              <a:t> The BLDC motor responded to PWM signals, producing proper rotation after ESC initialization. Pitch/beep variations confirmed valid signal reception.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00"/>
              <a:buChar char="●"/>
            </a:pPr>
            <a:r>
              <a:rPr b="1" lang="en-IN" sz="2600"/>
              <a:t>Inclination test:</a:t>
            </a:r>
            <a:r>
              <a:rPr lang="en-IN" sz="2600"/>
              <a:t> The prototype was placed on a surface inclined between 45° to 60°. With only motor torque, it maintained grip and could move partially upward, suggesting good low-RPM torque from the N20 motors.</a:t>
            </a:r>
            <a:endParaRPr sz="2600"/>
          </a:p>
        </p:txBody>
      </p:sp>
      <p:sp>
        <p:nvSpPr>
          <p:cNvPr id="264" name="Google Shape;264;g36a8d493c82_0_18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65" name="Google Shape;265;g36a8d493c82_0_18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6" name="Google Shape;266;g36a8d493c82_0_18"/>
          <p:cNvSpPr txBox="1"/>
          <p:nvPr/>
        </p:nvSpPr>
        <p:spPr>
          <a:xfrm>
            <a:off x="1386895" y="145670"/>
            <a:ext cx="9834300" cy="83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Analysis of Partial Results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a8d493c82_0_26"/>
          <p:cNvSpPr txBox="1"/>
          <p:nvPr>
            <p:ph idx="1" type="body"/>
          </p:nvPr>
        </p:nvSpPr>
        <p:spPr>
          <a:xfrm>
            <a:off x="174738" y="1082782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600"/>
              <a:buChar char="●"/>
            </a:pPr>
            <a:r>
              <a:rPr b="1" lang="en-IN" sz="2600"/>
              <a:t>Power response:</a:t>
            </a:r>
            <a:r>
              <a:rPr lang="en-IN" sz="2600"/>
              <a:t> Motor vibration without movement (seen in early AA battery tests) was resolved by switching to regulated SMPS + buck converter power.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600"/>
          </a:p>
        </p:txBody>
      </p:sp>
      <p:sp>
        <p:nvSpPr>
          <p:cNvPr id="272" name="Google Shape;272;g36a8d493c82_0_26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73" name="Google Shape;273;g36a8d493c82_0_26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4" name="Google Shape;274;g36a8d493c82_0_26"/>
          <p:cNvSpPr txBox="1"/>
          <p:nvPr/>
        </p:nvSpPr>
        <p:spPr>
          <a:xfrm>
            <a:off x="1386895" y="145670"/>
            <a:ext cx="9834300" cy="83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Analysis of Partial Results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 txBox="1"/>
          <p:nvPr>
            <p:ph idx="1" type="body"/>
          </p:nvPr>
        </p:nvSpPr>
        <p:spPr>
          <a:xfrm>
            <a:off x="80313" y="1206807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Bookman Old Style"/>
              <a:buChar char="•"/>
            </a:pPr>
            <a:r>
              <a:rPr b="1" lang="en-IN"/>
              <a:t>Key Deliverables: </a:t>
            </a:r>
            <a:endParaRPr b="1"/>
          </a:p>
          <a:p>
            <a:pPr indent="-2667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Bookman Old Style"/>
              <a:buChar char="•"/>
            </a:pPr>
            <a:r>
              <a:rPr b="1" lang="en-IN" sz="2600"/>
              <a:t>3D-Printed Chassis</a:t>
            </a:r>
            <a:r>
              <a:rPr lang="en-IN" sz="2600"/>
              <a:t>: A lightweight, compact, and modular chassis was successfully 3D printed.</a:t>
            </a:r>
            <a:endParaRPr sz="2600"/>
          </a:p>
          <a:p>
            <a:pPr indent="-2667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Bookman Old Style"/>
              <a:buChar char="•"/>
            </a:pPr>
            <a:r>
              <a:rPr b="1" lang="en-IN" sz="2600"/>
              <a:t>Assembled Physical Prototype</a:t>
            </a:r>
            <a:r>
              <a:rPr lang="en-IN" sz="2600"/>
              <a:t>:All major hardware components were mounted and connected</a:t>
            </a:r>
            <a:endParaRPr sz="2600"/>
          </a:p>
          <a:p>
            <a:pPr indent="-2667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b="1" lang="en-IN" sz="2600"/>
              <a:t>Power System Integration</a:t>
            </a:r>
            <a:r>
              <a:rPr lang="en-IN" sz="2600"/>
              <a:t>:A safe, stable power delivery setup was implemented using the SMPS and buck converters to power different voltage domains(12V, 6V).</a:t>
            </a:r>
            <a:endParaRPr sz="2600"/>
          </a:p>
          <a:p>
            <a:pPr indent="-2667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Bookman Old Style"/>
              <a:buChar char="•"/>
            </a:pPr>
            <a:r>
              <a:rPr b="1" lang="en-IN" sz="2600"/>
              <a:t>Motor Testing Code &amp; PWM ESC Control</a:t>
            </a:r>
            <a:endParaRPr b="1" sz="2600"/>
          </a:p>
          <a:p>
            <a:pPr indent="-2667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b="1" lang="en-IN" sz="2600"/>
              <a:t>Inclined Surface Testing</a:t>
            </a:r>
            <a:r>
              <a:rPr lang="en-IN" sz="2600"/>
              <a:t>: Reliable response observed from all components.</a:t>
            </a:r>
            <a:endParaRPr sz="2600"/>
          </a:p>
        </p:txBody>
      </p:sp>
      <p:sp>
        <p:nvSpPr>
          <p:cNvPr id="280" name="Google Shape;280;p10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81" name="Google Shape;281;p10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82" name="Google Shape;282;p10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Deliverables and Outcomes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a8d493c82_0_43"/>
          <p:cNvSpPr txBox="1"/>
          <p:nvPr>
            <p:ph idx="1" type="body"/>
          </p:nvPr>
        </p:nvSpPr>
        <p:spPr>
          <a:xfrm>
            <a:off x="80313" y="1206807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Bookman Old Style"/>
              <a:buChar char="•"/>
            </a:pPr>
            <a:r>
              <a:rPr b="1" lang="en-IN"/>
              <a:t>Visual Documentation: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400"/>
              <a:t>1) 3d printed </a:t>
            </a:r>
            <a:r>
              <a:rPr b="1" lang="en-IN" sz="2400"/>
              <a:t>chassis</a:t>
            </a:r>
            <a:r>
              <a:rPr b="1" lang="en-IN" sz="2400"/>
              <a:t>:						2)4 X N20 motors Working circuit</a:t>
            </a:r>
            <a:endParaRPr b="1" sz="2400"/>
          </a:p>
        </p:txBody>
      </p:sp>
      <p:sp>
        <p:nvSpPr>
          <p:cNvPr id="288" name="Google Shape;288;g36a8d493c82_0_43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89" name="Google Shape;289;g36a8d493c82_0_43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0" name="Google Shape;290;g36a8d493c82_0_43"/>
          <p:cNvSpPr txBox="1"/>
          <p:nvPr/>
        </p:nvSpPr>
        <p:spPr>
          <a:xfrm>
            <a:off x="1386895" y="145670"/>
            <a:ext cx="9834300" cy="83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Deliverables and Outcomes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91" name="Google Shape;291;g36a8d493c82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950" y="2209550"/>
            <a:ext cx="2654801" cy="35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6a8d493c82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3800" y="2209550"/>
            <a:ext cx="2830649" cy="35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a8d493c82_0_54"/>
          <p:cNvSpPr txBox="1"/>
          <p:nvPr>
            <p:ph idx="1" type="body"/>
          </p:nvPr>
        </p:nvSpPr>
        <p:spPr>
          <a:xfrm>
            <a:off x="80313" y="1119057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Bookman Old Style"/>
              <a:buChar char="•"/>
            </a:pPr>
            <a:r>
              <a:rPr b="1" lang="en-IN"/>
              <a:t>Visual Documentation: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300"/>
              <a:t>3</a:t>
            </a:r>
            <a:r>
              <a:rPr b="1" lang="en-IN" sz="2300"/>
              <a:t>)Testing of BLDC Motor on paper                       4) Testing N20 motors</a:t>
            </a:r>
            <a:endParaRPr b="1" sz="23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300"/>
              <a:t>	</a:t>
            </a:r>
            <a:endParaRPr b="1" sz="23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298" name="Google Shape;298;g36a8d493c82_0_54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299" name="Google Shape;299;g36a8d493c82_0_54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0" name="Google Shape;300;g36a8d493c82_0_54"/>
          <p:cNvSpPr txBox="1"/>
          <p:nvPr/>
        </p:nvSpPr>
        <p:spPr>
          <a:xfrm>
            <a:off x="1386895" y="145670"/>
            <a:ext cx="9834300" cy="83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Deliverables and Outcomes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01" name="Google Shape;301;g36a8d493c82_0_54" title="paper tes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275" y="2112575"/>
            <a:ext cx="2320124" cy="412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6a8d493c82_0_54" title="WhatsApp Video 2025-06-23 at 20.50.23_61815b5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7400" y="2112575"/>
            <a:ext cx="2450950" cy="435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8600" rtl="0" algn="l">
              <a:spcBef>
                <a:spcPts val="1000"/>
              </a:spcBef>
              <a:spcAft>
                <a:spcPts val="0"/>
              </a:spcAft>
              <a:buSzPts val="2700"/>
              <a:buChar char="•"/>
            </a:pPr>
            <a:r>
              <a:rPr b="1" lang="en-IN" sz="2700"/>
              <a:t>Integration of BLDC and N20 Motors</a:t>
            </a:r>
            <a:br>
              <a:rPr b="1" lang="en-IN" sz="2700"/>
            </a:br>
            <a:r>
              <a:rPr lang="en-IN" sz="2700"/>
              <a:t> The current prototype features both types of motors independently. However, their </a:t>
            </a:r>
            <a:r>
              <a:rPr b="1" lang="en-IN" sz="2700"/>
              <a:t>combined integration and synchronized operation</a:t>
            </a:r>
            <a:r>
              <a:rPr lang="en-IN" sz="2700"/>
              <a:t> is yet to be achieved. This will ensure that the robot can move and clean effectively across both vertical and horizontal surfaces using microfibres</a:t>
            </a:r>
            <a:endParaRPr sz="2700"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222250" lvl="0" marL="228600" rtl="0" algn="l">
              <a:spcBef>
                <a:spcPts val="1000"/>
              </a:spcBef>
              <a:spcAft>
                <a:spcPts val="0"/>
              </a:spcAft>
              <a:buSzPts val="2700"/>
              <a:buChar char="•"/>
            </a:pPr>
            <a:r>
              <a:rPr b="1" lang="en-IN" sz="2700"/>
              <a:t>Testing in Vertical (90°) Orientation</a:t>
            </a:r>
            <a:br>
              <a:rPr b="1" lang="en-IN" sz="2700"/>
            </a:br>
            <a:r>
              <a:rPr lang="en-IN" sz="2700"/>
              <a:t> While the robot functions successfully on flat and inclined surfaces, it has </a:t>
            </a:r>
            <a:r>
              <a:rPr b="1" lang="en-IN" sz="2700"/>
              <a:t>not yet been tested at a full 90° vertical angle</a:t>
            </a:r>
            <a:r>
              <a:rPr lang="en-IN" sz="2700"/>
              <a:t>, which is essential for high-rise glass facade cleaning. This test will confirm the reliability of the vacuum adhesion system and the robot’s overall mechanical integrity.</a:t>
            </a:r>
            <a:br>
              <a:rPr lang="en-IN" sz="2700"/>
            </a:br>
            <a:endParaRPr sz="27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08" name="Google Shape;308;p11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309" name="Google Shape;309;p11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Future Work (Remaining Tasks)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a8d493c82_0_64"/>
          <p:cNvSpPr txBox="1"/>
          <p:nvPr>
            <p:ph idx="1" type="body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8600" rtl="0" algn="l">
              <a:spcBef>
                <a:spcPts val="1000"/>
              </a:spcBef>
              <a:spcAft>
                <a:spcPts val="0"/>
              </a:spcAft>
              <a:buSzPts val="2700"/>
              <a:buChar char="•"/>
            </a:pPr>
            <a:r>
              <a:rPr b="1" lang="en-IN" sz="2700"/>
              <a:t>Motor Driver and Control Optimization</a:t>
            </a:r>
            <a:br>
              <a:rPr b="1" lang="en-IN" sz="2700"/>
            </a:br>
            <a:r>
              <a:rPr lang="en-IN" sz="2700"/>
              <a:t> The BLDC and N20 motors operate on different control principles. Fine-tuning the </a:t>
            </a:r>
            <a:r>
              <a:rPr b="1" lang="en-IN" sz="2700"/>
              <a:t>motor driver logic and speed synchronization</a:t>
            </a:r>
            <a:r>
              <a:rPr lang="en-IN" sz="2700"/>
              <a:t> is necessary to prevent drift or imbalance during operation.</a:t>
            </a:r>
            <a:br>
              <a:rPr lang="en-IN" sz="2700"/>
            </a:br>
            <a:endParaRPr sz="2700"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16" name="Google Shape;316;g36a8d493c82_0_64"/>
          <p:cNvSpPr txBox="1"/>
          <p:nvPr>
            <p:ph idx="10" type="dt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317" name="Google Shape;317;g36a8d493c82_0_64"/>
          <p:cNvSpPr txBox="1"/>
          <p:nvPr>
            <p:ph idx="12" type="sldNum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8" name="Google Shape;318;g36a8d493c82_0_64"/>
          <p:cNvSpPr txBox="1"/>
          <p:nvPr/>
        </p:nvSpPr>
        <p:spPr>
          <a:xfrm>
            <a:off x="1386895" y="145670"/>
            <a:ext cx="9834300" cy="83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Future Work (Remaining Tasks)</a:t>
            </a:r>
            <a:endParaRPr b="1" sz="4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 txBox="1"/>
          <p:nvPr>
            <p:ph idx="1" type="body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The project has successfully progressed from design to a fully assembled prototype. Core components such as the 3D-printed chassis, motor drivers, N20 motors, and BLDC propulsion system were tested. 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Power stability, motor responsiveness, and structural durability have all been validated. These outcomes confirm that the system is capable of basic movement and incline handling, forming a solid foundation for the next development phase-integrating suction or lift mechanisms for vertical surface operation</a:t>
            </a:r>
            <a:r>
              <a:rPr lang="en-IN"/>
              <a:t>.</a:t>
            </a:r>
            <a:r>
              <a:rPr lang="en-IN"/>
              <a:t> 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/>
              <a:t>The results so far strongly support the feasibility and future potential of the robot in real-life applications such as glass cleaning.</a:t>
            </a:r>
            <a:endParaRPr/>
          </a:p>
        </p:txBody>
      </p:sp>
      <p:sp>
        <p:nvSpPr>
          <p:cNvPr id="325" name="Google Shape;325;p12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326" name="Google Shape;326;p12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7" name="Google Shape;327;p12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Monday, 23 June 2025</a:t>
            </a:r>
            <a:endParaRPr/>
          </a:p>
        </p:txBody>
      </p:sp>
      <p:sp>
        <p:nvSpPr>
          <p:cNvPr id="333" name="Google Shape;333;p13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34" name="Google Shape;3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2021-06-02T13:10:21Z</dcterms:created>
  <dc:creator>Dr. Shanmukha</dc:creator>
</cp:coreProperties>
</file>